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BANGKOK AIRBNB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D4FF"/>
                </a:solidFill>
              </a:rPr>
              <a:t>Market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A8499"/>
                </a:solidFill>
              </a:rPr>
              <a:t>Expernetic Data Engineer Intern Assessment  |  Primesh Marasinghe  |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023360"/>
            <a:ext cx="21945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D4FF"/>
                </a:solidFill>
              </a:rPr>
              <a:t>28,806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F9FA"/>
                </a:solidFill>
              </a:rPr>
              <a:t>Listings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023360"/>
            <a:ext cx="21945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114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D4FF"/>
                </a:solidFill>
              </a:rPr>
              <a:t>฿1,359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F9FA"/>
                </a:solidFill>
              </a:rPr>
              <a:t>Median Price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023360"/>
            <a:ext cx="21945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114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D4FF"/>
                </a:solidFill>
              </a:rPr>
              <a:t>31.5%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F9FA"/>
                </a:solidFill>
              </a:rPr>
              <a:t>Avg Occupancy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39" y="4023360"/>
            <a:ext cx="21945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39" y="4114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D4FF"/>
                </a:solidFill>
              </a:rPr>
              <a:t>583K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39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F9FA"/>
                </a:solidFill>
              </a:rPr>
              <a:t>Reviews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A8499"/>
                </a:solidFill>
              </a:rPr>
              <a:t>Inside Airbnb Dataset  ·  Bangkok, Thailand  ·  September 2025 Scrape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Presentation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Market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99"/>
                </a:solidFill>
              </a:rPr>
              <a:t>Scale, structure, and key market characteristics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93391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9933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933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Pricing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494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99"/>
                </a:solidFill>
              </a:rPr>
              <a:t>Price drivers, room type premiums, neighbourhood dynamics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06624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7066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06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Host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62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99"/>
                </a:solidFill>
              </a:rPr>
              <a:t>Market concentration, superhost impact, segmentation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19856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4198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198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Demand &amp; Seasonality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75887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99"/>
                </a:solidFill>
              </a:rPr>
              <a:t>Peak seasons, COVID recovery, booking patterns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133087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13308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3308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Statistical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89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99"/>
                </a:solidFill>
              </a:rPr>
              <a:t>5 hypothesis tests with effect sizes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46320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846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ML &amp;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02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99"/>
                </a:solidFill>
              </a:rPr>
              <a:t>Price prediction, NLP, RAG system, recommendations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59552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5595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59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Business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155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99"/>
                </a:solidFill>
              </a:rPr>
              <a:t>Actionable insights for hosts, investors, operators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01  Market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65176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FF"/>
                </a:solidFill>
              </a:rPr>
              <a:t>28,806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Active Listings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5176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FF"/>
                </a:solidFill>
              </a:rPr>
              <a:t>8,874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Unique Hosts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65176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FF"/>
                </a:solidFill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Neighbourhoods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280160"/>
            <a:ext cx="265176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3716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FF"/>
                </a:solidFill>
              </a:rPr>
              <a:t>10.5M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Calendar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34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🏙️  Bangkok is one of SE Asia's most dynamic short-term rental markets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4015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📈  2024 review volume hit all-time high: 148,869 reviews (+152% vs 2019 pre-COVID)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684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🏢  Market dominated by commercial operators: 10.6% of hosts control 57% of listings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3542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💰  Median nightly price: ฿1,359 THB (~$38 USD) — affordable by global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1023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⭐  81.4% of listings rated above 4.5 — classic rating inflation pattern confirmed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669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🚇  BTS Skytrain proximity is the #1 guest decision factor (2,513 review mentions)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02  Pricing Analysis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7724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280160"/>
            <a:ext cx="3566160" cy="41148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</a:rPr>
              <a:t>💡 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28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Entire homes: 38% premium over private rooms (p&lt;0.0001)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423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Parthum Wan commands highest prices at ฿2,225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017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TV amenity adds +68.6% price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611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Hot tub: +49.8% | Kitchen: +36.9%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206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Neighbourhood explains 10.5% of price variance (η²=0.11)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03  Host Market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2286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280160"/>
            <a:ext cx="5943600" cy="22860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8499"/>
                </a:solidFill>
              </a:rPr>
              <a:t>Non-Superhost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B6B"/>
                </a:solidFill>
              </a:rPr>
              <a:t>฿25,968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99"/>
                </a:solidFill>
              </a:rPr>
              <a:t>Median Annual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Avg Rating: 4.575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⭐ Superhost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37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DE80"/>
                </a:solidFill>
              </a:rPr>
              <a:t>฿114,431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99"/>
                </a:solidFill>
              </a:rPr>
              <a:t>Median Annual Revenue  (+340%)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Avg Rating: 4.858  (Cohen's d=0.54)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11430000" cy="2651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⚠️  Market Concentration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</a:rPr>
              <a:t>10.6%
of hosts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499"/>
                </a:solidFill>
              </a:rPr>
              <a:t>Control
57% of listings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297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</a:rPr>
              <a:t>Top host
243 listings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499"/>
                </a:solidFill>
              </a:rPr>
              <a:t>Single 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97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</a:rPr>
              <a:t>6 host
segments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499"/>
                </a:solidFill>
              </a:rPr>
              <a:t>K-Means clustering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297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</a:rPr>
              <a:t>62.7%
casual hosts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499"/>
                </a:solidFill>
              </a:rPr>
              <a:t>Single listing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04  Demand &amp; Seasonality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686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235440" y="1280160"/>
            <a:ext cx="2743200" cy="41148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</a:rPr>
              <a:t>📊 Key Demand
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Peak: Jul–Sep
(43% occupancy)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7249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Trough: Feb–Mar
(~24%)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3467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2024: All-time
high 148,869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96849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+152% vs 2019
pre-COVID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459028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No weekend
premium (p=0.526)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05  Statistical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43000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984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2984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2984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P-value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29844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Effect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37360"/>
            <a:ext cx="11430000" cy="7315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828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Entire home &gt; Private room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</a:rPr>
              <a:t>REJECT H₀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18288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p&lt;0.0001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82880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r=0.29 moderate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14600"/>
            <a:ext cx="11430000" cy="7315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606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6060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Superhost &gt; Non-superhost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606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</a:rPr>
              <a:t>REJECT H₀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26060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p&lt;0.0001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0604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d=0.54 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91839"/>
            <a:ext cx="11430000" cy="7315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3832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38327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&gt;10 reviews affects 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383279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REJECT H₀*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338327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p=0.000005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383279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r=0.037 negligible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69079"/>
            <a:ext cx="11430000" cy="7315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1605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16051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Neighbourhood price differences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160519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</a:rPr>
              <a:t>REJECT H₀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4160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p&lt;0.0001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160519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η²=0.11 moderate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46320"/>
            <a:ext cx="11430000" cy="7315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93775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93775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Weekend vs weekday pricing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4937759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6B"/>
                </a:solidFill>
              </a:rPr>
              <a:t>FAIL TO REJECT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80" y="493775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p=0.526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937759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d=0.012 negligible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715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99"/>
                </a:solidFill>
              </a:rPr>
              <a:t>* H3: Statistically significant but effect size negligible — large n amplifies trivial differences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06  Machine Learning &amp;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Price Prediction (3 Models + 5-Fold CV)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658368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64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664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64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664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57400"/>
            <a:ext cx="6583680" cy="5029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1305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B6B"/>
                </a:solidFill>
              </a:rPr>
              <a:t>Ridge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305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฿655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305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0.449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1305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42.1%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06040"/>
            <a:ext cx="6583680" cy="5029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6791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</a:rP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6791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฿501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791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0.652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6791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29.2%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154680"/>
            <a:ext cx="6583680" cy="5029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2278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FF"/>
                </a:solidFill>
              </a:rPr>
              <a:t>Gradient Boosting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2278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฿504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2278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0.662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2278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29.1%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NLP &amp; AI Components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645920"/>
            <a:ext cx="4572000" cy="5943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🎭 VADER Sentiment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19476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99"/>
                </a:solidFill>
              </a:rPr>
              <a:t>72.9% positive · r=0.089 vs scores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2331720"/>
            <a:ext cx="4572000" cy="5943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3774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📚 LDA Topic Modeling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6334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99"/>
                </a:solidFill>
              </a:rPr>
              <a:t>6 topics · 40% non-English detected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017520"/>
            <a:ext cx="4572000" cy="5943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0632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🔍 Named Entity Recognition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3192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99"/>
                </a:solidFill>
              </a:rPr>
              <a:t>BTS #1 landmark · Small #1 complaint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3703320"/>
            <a:ext cx="4572000" cy="5943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37490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🤖 RAG Q&amp;A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0050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99"/>
                </a:solidFill>
              </a:rPr>
              <a:t>TF-IDF retrieval over 10K reviews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4389120"/>
            <a:ext cx="4572000" cy="5943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434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🎯 Recommendation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46908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99"/>
                </a:solidFill>
              </a:rPr>
              <a:t>Cosine similarity · 0.99+ scores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5074920"/>
            <a:ext cx="4572000" cy="5943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5120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💡 Listing Advisor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3766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99"/>
                </a:solidFill>
              </a:rPr>
              <a:t>Data-driven improvement recommendations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023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Top Price Drivers (Gradient Boosting):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389120"/>
            <a:ext cx="3950208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425696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Bedrooms: 43.2%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773168"/>
            <a:ext cx="1545336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809744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Neighbourhood Median Price: 16.9%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157216"/>
            <a:ext cx="1115568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51937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Accommodates: 12.2%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541264"/>
            <a:ext cx="39319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57784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Host Tenure: 4.3%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925312"/>
            <a:ext cx="39319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96188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Host Listings: 4.3%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07  Business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52120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749039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</a:rPr>
              <a:t>🏠 FOR HOSTS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Pursue Superhost status — revenue jumps 340% (฿25,968 → ฿114,431)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Implement weekend pricing premium — zero competition currently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1187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Highlight BTS/MRT proximity — #1 guest decision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5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Upgrade amenities: TV (+68.6%), Hot tub (+49.8%), Kitchen (+36.9%)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4924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Dynamic pricing for Jul–Sep peak (43% vs 24% Feb trough)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80160"/>
            <a:ext cx="3749039" cy="52120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280160"/>
            <a:ext cx="3749039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3258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</a:rPr>
              <a:t>📈 FOR INVESTORS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187451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Bangkok market at all-time high — 2024 reviews +152% vs 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27432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Target Bang Rak / Vadhana for premium positioning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361187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Mid-market ฿1,000–2,500 captures peak demand concentration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448055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High Demand segment achieves 61% occupancy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534924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Avoid shared rooms — only 11.6% occupancy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280160"/>
            <a:ext cx="3749039" cy="52120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280160"/>
            <a:ext cx="3749039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3258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🏢 FOR OPERATORS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87451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Monitor commercial concentration — 57% supply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7432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Address rating inflation — 81.4% above 4.5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61187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Deploy multilingual NLP for full review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59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Introduce weekend pricing tools for hosts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4924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Proactive regulatory engagement — Bangkok mirrors Amsterdam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Technical Architecture &amp;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94560" cy="5120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19456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⚙️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Python 3.11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7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pandas /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2043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DuckDB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43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dbt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166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Docker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280160"/>
            <a:ext cx="2194560" cy="5120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280160"/>
            <a:ext cx="219456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📊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87451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scipy / statsmodels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69747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52043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matplotlib / seaborn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343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plotly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166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VADER NLP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280160"/>
            <a:ext cx="2194560" cy="5120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0" y="1280160"/>
            <a:ext cx="219456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🤖 AI/ML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187451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Gradient Boosting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69747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K-Means Clustering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52043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TF-IDF 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343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LDA Topics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166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Rule-based 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1280160"/>
            <a:ext cx="2194560" cy="5120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06640" y="1280160"/>
            <a:ext cx="219456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🎨 Products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187451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Streamlit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269747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AI Analyst Chatbot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352043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ReportLab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4343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Stream Sim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5166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PPTX Deck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1280160"/>
            <a:ext cx="2194560" cy="5120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84080" y="1280160"/>
            <a:ext cx="219456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☁️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187451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AWS Cloud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269747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Kafka Streaming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352043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Star Schema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4343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21 Unit Tests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5166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Git + GitHub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499"/>
                </a:solidFill>
              </a:rPr>
              <a:t>GitHub: github.com/primemarasinghe/airbnb-market-intelligence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D4FF"/>
                </a:solidFill>
              </a:rPr>
              <a:t>Bangkok Airbnb Market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F9FA"/>
                </a:solidFill>
              </a:rPr>
              <a:t>✅ 8 Jupyter Notebooks  |  ✅ 21 Unit Tests  |  ✅ Docker Containerized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F9FA"/>
                </a:solidFill>
              </a:rPr>
              <a:t>✅ Streamlit Dashboard  |  ✅ AI Analyst Chatbot  |  ✅ Automated PDF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F9FA"/>
                </a:solidFill>
              </a:rPr>
              <a:t>✅ dbt Models  |  ✅ Stream Processing Sim  |  ✅ AWS Architecture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8499"/>
                </a:solidFill>
              </a:rPr>
              <a:t>Primesh Marasinghe  |  BSc (Hons) Data Science, SLIIT  |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D4FF"/>
                </a:solidFill>
              </a:rPr>
              <a:t>github.com/primemarasinghe/airbnb-market-intelligence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